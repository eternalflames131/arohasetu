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3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4389120" cy="36576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8A6A6"/>
                </a:solidFill>
                <a:latin typeface="Calibri"/>
              </a:defRPr>
            </a:pPr>
            <a:r>
              <a:t>HACK FOR SOCIAL CAUSE 2027 • VBYLD (IIT BOMBAY)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03663"/>
                </a:solidFill>
                <a:latin typeface="Calibri"/>
              </a:defRPr>
            </a:pPr>
            <a:r>
              <a:t>ArohaSetu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8A6A6"/>
                </a:solidFill>
                <a:latin typeface="Calibri"/>
              </a:defRPr>
            </a:pPr>
            <a:r>
              <a:t>Notice Sooner, Care Better — A Personal Nurse for Every Family &amp; Hospital Bed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34640"/>
            <a:ext cx="4937760" cy="3108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A6A6"/>
                </a:solidFill>
                <a:latin typeface="Calibri"/>
              </a:defRPr>
            </a:pPr>
            <a:r>
              <a:t>PROJECT METADATA &amp; REPOSITORIES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Theme: </a:t>
            </a:r>
            <a:r>
              <a:rPr sz="950">
                <a:solidFill>
                  <a:srgbClr val="475569"/>
                </a:solidFill>
              </a:rPr>
              <a:t>Healthcare, Wellbeing &amp; Elderly Care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Concept Title: </a:t>
            </a:r>
            <a:r>
              <a:rPr sz="950">
                <a:solidFill>
                  <a:srgbClr val="475569"/>
                </a:solidFill>
              </a:rPr>
              <a:t>Privacy-Conscious Patient Monitoring &amp; Emergency Response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Registration ID: </a:t>
            </a:r>
            <a:r>
              <a:rPr sz="950">
                <a:solidFill>
                  <a:srgbClr val="475569"/>
                </a:solidFill>
              </a:rPr>
              <a:t>HSC|AN|00004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Target Region: </a:t>
            </a:r>
            <a:r>
              <a:rPr sz="950">
                <a:solidFill>
                  <a:srgbClr val="475569"/>
                </a:solidFill>
              </a:rPr>
              <a:t>Andaman &amp; Nicobar Islands (Union Territory)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Open-Source Code: </a:t>
            </a:r>
            <a:r>
              <a:rPr sz="950">
                <a:solidFill>
                  <a:srgbClr val="103663"/>
                </a:solidFill>
              </a:rPr>
              <a:t>github.com/EternalFlames131/Arohasetu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Live Web Simulator: </a:t>
            </a:r>
            <a:r>
              <a:rPr sz="950">
                <a:solidFill>
                  <a:srgbClr val="103663"/>
                </a:solidFill>
              </a:rPr>
              <a:t>https://arohasetu.vercel.app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834640"/>
            <a:ext cx="512064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97180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3663"/>
                </a:solidFill>
                <a:latin typeface="Calibri"/>
              </a:defRPr>
            </a:pPr>
            <a:r>
              <a:t>TEAM COMPOSITION &amp; ROLES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Samrat Dasgupta (Team Leader)
</a:t>
            </a:r>
            <a:r>
              <a:rPr sz="850">
                <a:solidFill>
                  <a:srgbClr val="475569"/>
                </a:solidFill>
              </a:rPr>
              <a:t>Teacher Trainee • Clinical idea, workflow architecture &amp; island validation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Hriday Das (Main Developer)
</a:t>
            </a:r>
            <a:r>
              <a:rPr sz="850">
                <a:solidFill>
                  <a:srgbClr val="475569"/>
                </a:solidFill>
              </a:rPr>
              <a:t>Coder • Full-stack engineering, local YOLO vision sentinel &amp; testing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C. Mohd. Jasheem (Designer)
</a:t>
            </a:r>
            <a:r>
              <a:rPr sz="850">
                <a:solidFill>
                  <a:srgbClr val="475569"/>
                </a:solidFill>
              </a:rPr>
              <a:t>UI/UX Designer • Visual design, presentation deck &amp; user experience assets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ArohaSetu — Hack for Social Cause 2027 (VBYLD) • Knowledge Partner: IIT Bombay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103663"/>
                </a:solidFill>
                <a:latin typeface="Calibri"/>
              </a:defRPr>
            </a:pPr>
            <a: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A6A6"/>
                </a:solidFill>
                <a:latin typeface="Calibri"/>
              </a:defRPr>
            </a:pPr>
            <a:r>
              <a:t>PROBLEM –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3663"/>
                </a:solidFill>
                <a:latin typeface="Calibri"/>
              </a:defRPr>
            </a:pPr>
            <a:r>
              <a:t>From Delayed Awareness to Structured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E11D48"/>
                </a:solidFill>
                <a:latin typeface="Calibri"/>
              </a:defRPr>
            </a:pPr>
            <a:r>
              <a:t>Reg ID: HSC|AN|00004</a:t>
            </a:r>
          </a:p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Team: ArohaSetu • A&amp;N Islands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08A6A6"/>
          </a:solidFill>
          <a:ln>
            <a:solidFill>
              <a:srgbClr val="08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A6A6"/>
                </a:solidFill>
                <a:latin typeface="Calibri"/>
              </a:defRPr>
            </a:pPr>
            <a:r>
              <a:t>Status Key: IMPLEMENTED in prototype • SIMULATED in test harness • PLANNED for production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11D48"/>
                </a:solidFill>
                <a:latin typeface="Calibri"/>
              </a:defRPr>
            </a:pPr>
            <a:r>
              <a:t>PROBLEM 01</a:t>
            </a:r>
          </a:p>
          <a:p>
            <a:pPr>
              <a:spcBef>
                <a:spcPts val="300"/>
              </a:spcBef>
              <a:defRPr sz="1100" b="1">
                <a:solidFill>
                  <a:srgbClr val="103663"/>
                </a:solidFill>
                <a:latin typeface="Calibri"/>
              </a:defRPr>
            </a:pPr>
            <a:r>
              <a:t>Unobserved Fall or Decline</a:t>
            </a:r>
          </a:p>
          <a:p>
            <a:pPr>
              <a:spcBef>
                <a:spcPts val="4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Older adults living alone risk acute injury or sudden deterioration without immediate help.</a:t>
            </a:r>
          </a:p>
          <a:p>
            <a:pPr>
              <a:spcBef>
                <a:spcPts val="1200"/>
              </a:spcBef>
              <a:defRPr sz="850" b="1">
                <a:solidFill>
                  <a:srgbClr val="08A6A6"/>
                </a:solidFill>
                <a:latin typeface="Calibri"/>
              </a:defRPr>
            </a:pPr>
            <a:r>
              <a:t>SOLUTION: IMPLEMENTED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Camera Pose Analysis: Local OpenCV + YOLO-Pose sentinel detects falls and immobility without saving video.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9233" y="1645920"/>
            <a:ext cx="25146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6393" y="17373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11D48"/>
                </a:solidFill>
                <a:latin typeface="Calibri"/>
              </a:defRPr>
            </a:pPr>
            <a:r>
              <a:t>PROBLEM 02</a:t>
            </a:r>
          </a:p>
          <a:p>
            <a:pPr>
              <a:spcBef>
                <a:spcPts val="300"/>
              </a:spcBef>
              <a:defRPr sz="1100" b="1">
                <a:solidFill>
                  <a:srgbClr val="103663"/>
                </a:solidFill>
                <a:latin typeface="Calibri"/>
              </a:defRPr>
            </a:pPr>
            <a:r>
              <a:t>Remote Family Uncertainty</a:t>
            </a:r>
          </a:p>
          <a:p>
            <a:pPr>
              <a:spcBef>
                <a:spcPts val="4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Families living far away lack real-time visibility into an elder's immediate health and daily safety.</a:t>
            </a:r>
          </a:p>
          <a:p>
            <a:pPr>
              <a:spcBef>
                <a:spcPts val="1200"/>
              </a:spcBef>
              <a:defRPr sz="850" b="1">
                <a:solidFill>
                  <a:srgbClr val="08A6A6"/>
                </a:solidFill>
                <a:latin typeface="Calibri"/>
              </a:defRPr>
            </a:pPr>
            <a:r>
              <a:t>SOLUTION: IMPLEMENTED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Caregiver Notification: Dedicated web dashboard with configured alerts, medication logs, and live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6947" y="1645920"/>
            <a:ext cx="25146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4107" y="17373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11D48"/>
                </a:solidFill>
                <a:latin typeface="Calibri"/>
              </a:defRPr>
            </a:pPr>
            <a:r>
              <a:t>PROBLEM 03</a:t>
            </a:r>
          </a:p>
          <a:p>
            <a:pPr>
              <a:spcBef>
                <a:spcPts val="300"/>
              </a:spcBef>
              <a:defRPr sz="1100" b="1">
                <a:solidFill>
                  <a:srgbClr val="103663"/>
                </a:solidFill>
                <a:latin typeface="Calibri"/>
              </a:defRPr>
            </a:pPr>
            <a:r>
              <a:t>Ward Monitoring Bottlenecks</a:t>
            </a:r>
          </a:p>
          <a:p>
            <a:pPr>
              <a:spcBef>
                <a:spcPts val="4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Clinical teams struggle to watch multiple dispersed patients across rural and island wards continuously.</a:t>
            </a:r>
          </a:p>
          <a:p>
            <a:pPr>
              <a:spcBef>
                <a:spcPts val="1200"/>
              </a:spcBef>
              <a:defRPr sz="850" b="1">
                <a:solidFill>
                  <a:srgbClr val="08A6A6"/>
                </a:solidFill>
                <a:latin typeface="Calibri"/>
              </a:defRPr>
            </a:pPr>
            <a:r>
              <a:t>SOLUTION: IMPLEMENTED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Virtual-Ward Triage: Nurse workflow engine running deterministic NEWS2 clinical risk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4660" y="1645920"/>
            <a:ext cx="25146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1820" y="17373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11D48"/>
                </a:solidFill>
                <a:latin typeface="Calibri"/>
              </a:defRPr>
            </a:pPr>
            <a:r>
              <a:t>PROBLEM 04</a:t>
            </a:r>
          </a:p>
          <a:p>
            <a:pPr>
              <a:spcBef>
                <a:spcPts val="300"/>
              </a:spcBef>
              <a:defRPr sz="1100" b="1">
                <a:solidFill>
                  <a:srgbClr val="103663"/>
                </a:solidFill>
                <a:latin typeface="Calibri"/>
              </a:defRPr>
            </a:pPr>
            <a:r>
              <a:t>Geographic Care Latency</a:t>
            </a:r>
          </a:p>
          <a:p>
            <a:pPr>
              <a:spcBef>
                <a:spcPts val="4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Island and rural communities encounter severe transport and telecom delays reaching acute emergency care.</a:t>
            </a:r>
          </a:p>
          <a:p>
            <a:pPr>
              <a:spcBef>
                <a:spcPts val="1200"/>
              </a:spcBef>
              <a:defRPr sz="850" b="1">
                <a:solidFill>
                  <a:srgbClr val="08A6A6"/>
                </a:solidFill>
                <a:latin typeface="Calibri"/>
              </a:defRPr>
            </a:pPr>
            <a:r>
              <a:t>SOLUTION: SIMULATED / PLANNED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Dual-Mode Triage: Home mode paired with hardware sensor telemetry (Planned) and offline Android client (Implemented).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77840"/>
            <a:ext cx="10728655" cy="5943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03663"/>
                </a:solidFill>
                <a:latin typeface="Calibri"/>
              </a:defRPr>
            </a:pPr>
            <a:r>
              <a:t>Core Innovation: Combines physiological telemetry with privacy-conscious on-device pose estimation and deterministic clinical scoring under home and virtual-ward modes. Fully transparent: no claim of unassisted medical diagnosis.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ArohaSetu — Hack for Social Cause 2027 (VBYLD) • Knowledge Partner: IIT Bombay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355080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103663"/>
                </a:solidFill>
                <a:latin typeface="Calibri"/>
              </a:defRPr>
            </a:pPr>
            <a: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A6A6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3663"/>
                </a:solidFill>
                <a:latin typeface="Calibri"/>
              </a:defRPr>
            </a:pPr>
            <a:r>
              <a:t>Modular End-to-End Pipeline &amp; Implementation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E11D48"/>
                </a:solidFill>
                <a:latin typeface="Calibri"/>
              </a:defRPr>
            </a:pPr>
            <a:r>
              <a:t>Reg ID: HSC|AN|00004</a:t>
            </a:r>
          </a:p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Team: ArohaSetu • A&amp;N Islands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08A6A6"/>
          </a:solidFill>
          <a:ln>
            <a:solidFill>
              <a:srgbClr val="08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A6A6"/>
                </a:solidFill>
                <a:latin typeface="Calibri"/>
              </a:defRPr>
            </a:pPr>
            <a:r>
              <a:t>01 • DATA INPUTS</a:t>
            </a:r>
          </a:p>
          <a:p>
            <a:pPr>
              <a:spcBef>
                <a:spcPts val="800"/>
              </a:spcBef>
            </a:pPr>
            <a:r>
              <a:rPr b="1" sz="880">
                <a:solidFill>
                  <a:srgbClr val="103663"/>
                </a:solidFill>
              </a:rPr>
              <a:t>Sensor Vitals: </a:t>
            </a:r>
            <a:r>
              <a:rPr sz="819">
                <a:solidFill>
                  <a:srgbClr val="0F172A"/>
                </a:solidFill>
              </a:rPr>
              <a:t>Heart rate, SpO2, blood pressure (SIMULATED in demo; physical BLE sensors PLANNED).</a:t>
            </a:r>
          </a:p>
          <a:p>
            <a:pPr>
              <a:spcBef>
                <a:spcPts val="800"/>
              </a:spcBef>
            </a:pPr>
            <a:r>
              <a:rPr b="1" sz="880">
                <a:solidFill>
                  <a:srgbClr val="103663"/>
                </a:solidFill>
              </a:rPr>
              <a:t>Vision Stream: </a:t>
            </a:r>
            <a:r>
              <a:rPr sz="819">
                <a:solidFill>
                  <a:srgbClr val="0F172A"/>
                </a:solidFill>
              </a:rPr>
              <a:t>Local room camera feed for real-time kinematic posture analysis (IMPLEMENTED).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9233" y="1463040"/>
            <a:ext cx="25146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6393" y="160020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A6A6"/>
                </a:solidFill>
                <a:latin typeface="Calibri"/>
              </a:defRPr>
            </a:pPr>
            <a:r>
              <a:t>02 • PROCESSING</a:t>
            </a:r>
          </a:p>
          <a:p>
            <a:pPr>
              <a:spcBef>
                <a:spcPts val="800"/>
              </a:spcBef>
            </a:pPr>
            <a:r>
              <a:rPr b="1" sz="880">
                <a:solidFill>
                  <a:srgbClr val="103663"/>
                </a:solidFill>
              </a:rPr>
              <a:t>Vision Sentinel: </a:t>
            </a:r>
            <a:r>
              <a:rPr sz="819">
                <a:solidFill>
                  <a:srgbClr val="0F172A"/>
                </a:solidFill>
              </a:rPr>
              <a:t>Python, OpenCV, YOLO-Pose extracting skeletal keypoints locally without video export.</a:t>
            </a:r>
          </a:p>
          <a:p>
            <a:pPr>
              <a:spcBef>
                <a:spcPts val="800"/>
              </a:spcBef>
            </a:pPr>
            <a:r>
              <a:rPr b="1" sz="880">
                <a:solidFill>
                  <a:srgbClr val="103663"/>
                </a:solidFill>
              </a:rPr>
              <a:t>Signal Guard: </a:t>
            </a:r>
            <a:r>
              <a:rPr sz="819">
                <a:solidFill>
                  <a:srgbClr val="0F172A"/>
                </a:solidFill>
              </a:rPr>
              <a:t>Boundary checking and noise filtering on ingested vital streams.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6947" y="1463040"/>
            <a:ext cx="25146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4107" y="160020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A6A6"/>
                </a:solidFill>
                <a:latin typeface="Calibri"/>
              </a:defRPr>
            </a:pPr>
            <a:r>
              <a:t>03 • RISK EVALUATION</a:t>
            </a:r>
          </a:p>
          <a:p>
            <a:pPr>
              <a:spcBef>
                <a:spcPts val="800"/>
              </a:spcBef>
            </a:pPr>
            <a:r>
              <a:rPr b="1" sz="880">
                <a:solidFill>
                  <a:srgbClr val="103663"/>
                </a:solidFill>
              </a:rPr>
              <a:t>NEWS2 Engine: </a:t>
            </a:r>
            <a:r>
              <a:rPr sz="819">
                <a:solidFill>
                  <a:srgbClr val="0F172A"/>
                </a:solidFill>
              </a:rPr>
              <a:t>Deterministic scoring against Royal College of Physicians clinical thresholds.</a:t>
            </a:r>
          </a:p>
          <a:p>
            <a:pPr>
              <a:spcBef>
                <a:spcPts val="800"/>
              </a:spcBef>
            </a:pPr>
            <a:r>
              <a:rPr b="1" sz="880">
                <a:solidFill>
                  <a:srgbClr val="103663"/>
                </a:solidFill>
              </a:rPr>
              <a:t>Fall Engine: </a:t>
            </a:r>
            <a:r>
              <a:rPr sz="819">
                <a:solidFill>
                  <a:srgbClr val="0F172A"/>
                </a:solidFill>
              </a:rPr>
              <a:t>Torso velocity drop and floor immobility verification windows (100% precision lab).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4660" y="1463040"/>
            <a:ext cx="25146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1820" y="160020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A6A6"/>
                </a:solidFill>
                <a:latin typeface="Calibri"/>
              </a:defRPr>
            </a:pPr>
            <a:r>
              <a:t>04 • INTERFACES</a:t>
            </a:r>
          </a:p>
          <a:p>
            <a:pPr>
              <a:spcBef>
                <a:spcPts val="800"/>
              </a:spcBef>
            </a:pPr>
            <a:r>
              <a:rPr b="1" sz="880">
                <a:solidFill>
                  <a:srgbClr val="103663"/>
                </a:solidFill>
              </a:rPr>
              <a:t>Web Dashboard: </a:t>
            </a:r>
            <a:r>
              <a:rPr sz="819">
                <a:solidFill>
                  <a:srgbClr val="0F172A"/>
                </a:solidFill>
              </a:rPr>
              <a:t>React + Tailwind CSS with Node.js/Express REST backend (PWA-ready).</a:t>
            </a:r>
          </a:p>
          <a:p>
            <a:pPr>
              <a:spcBef>
                <a:spcPts val="800"/>
              </a:spcBef>
            </a:pPr>
            <a:r>
              <a:rPr b="1" sz="880">
                <a:solidFill>
                  <a:srgbClr val="103663"/>
                </a:solidFill>
              </a:rPr>
              <a:t>Mobile Client: </a:t>
            </a:r>
            <a:r>
              <a:rPr sz="819">
                <a:solidFill>
                  <a:srgbClr val="0F172A"/>
                </a:solidFill>
              </a:rPr>
              <a:t>Kotlin + Jetpack Compose Android app with offline SQLite/SharedPrefs caching.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52120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3663"/>
                </a:solidFill>
                <a:latin typeface="Calibri"/>
              </a:defRPr>
            </a:pPr>
            <a:r>
              <a:t>REPOSITORY &amp; LIVE ARTIFACTS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• GitHub: github.com/EternalFlames131/Arohasetu (Licensed under MIT)</a:t>
            </a:r>
            <a:br/>
            <a:r>
              <a:t>• Live Web Simulator: https://arohasetu.vercel.app</a:t>
            </a:r>
            <a:br/>
            <a:r>
              <a:t>• Native Android APK: 26.4 MB offline package (com.arohasetu.app)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800600"/>
            <a:ext cx="5333695" cy="13716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8920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8A6A6"/>
                </a:solidFill>
                <a:latin typeface="Calibri"/>
              </a:defRPr>
            </a:pPr>
            <a:r>
              <a:t>MANDATORY AI USAGE DISCLOSURE</a:t>
            </a:r>
          </a:p>
          <a:p>
            <a:pPr>
              <a:spcBef>
                <a:spcPts val="400"/>
              </a:spcBef>
              <a:defRPr sz="819">
                <a:solidFill>
                  <a:srgbClr val="103663"/>
                </a:solidFill>
              </a:defRPr>
            </a:pPr>
            <a:r>
              <a:t>AI was used strictly to do light bug checks and light coding only; other than that, everything was self-made and created entirely by the team (healthcare concept, two-layer architecture, clinical scoring, UI/UX designs, and validation labs).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ArohaSetu — Hack for Social Cause 2027 (VBYLD) • Knowledge Partner: IIT Bombay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355080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103663"/>
                </a:solidFill>
                <a:latin typeface="Calibri"/>
              </a:defRPr>
            </a:pPr>
            <a: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A6A6"/>
                </a:solidFill>
                <a:latin typeface="Calibri"/>
              </a:defRPr>
            </a:pPr>
            <a:r>
              <a:t>IMPACT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3663"/>
                </a:solidFill>
                <a:latin typeface="Calibri"/>
              </a:defRPr>
            </a:pPr>
            <a:r>
              <a:t>Ecosystem Connectivity &amp; Intended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E11D48"/>
                </a:solidFill>
                <a:latin typeface="Calibri"/>
              </a:defRPr>
            </a:pPr>
            <a:r>
              <a:t>Reg ID: HSC|AN|00004</a:t>
            </a:r>
          </a:p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Team: ArohaSetu • A&amp;N Islands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08A6A6"/>
          </a:solidFill>
          <a:ln>
            <a:solidFill>
              <a:srgbClr val="08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A6A6"/>
                </a:solidFill>
                <a:latin typeface="Calibri"/>
              </a:defRPr>
            </a:pPr>
            <a:r>
              <a:t>TARGET POPULATIONS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103663"/>
                </a:solidFill>
              </a:rPr>
              <a:t>Older Adults Living Alone: </a:t>
            </a:r>
            <a:r>
              <a:rPr sz="819">
                <a:solidFill>
                  <a:srgbClr val="0F172A"/>
                </a:solidFill>
              </a:rPr>
              <a:t>Seniors with mobility risks or chronic cardiac/respiratory conditions.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103663"/>
                </a:solidFill>
              </a:rPr>
              <a:t>Family Caregivers: </a:t>
            </a:r>
            <a:r>
              <a:rPr sz="819">
                <a:solidFill>
                  <a:srgbClr val="0F172A"/>
                </a:solidFill>
              </a:rPr>
              <a:t>Working family members who need real-time reassurance without intrusion.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103663"/>
                </a:solidFill>
              </a:rPr>
              <a:t>Virtual Ward Patients: </a:t>
            </a:r>
            <a:r>
              <a:rPr sz="819">
                <a:solidFill>
                  <a:srgbClr val="0F172A"/>
                </a:solidFill>
              </a:rPr>
              <a:t>Post-op, elderly, or stable ward patients freed from constant bedside nursing.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103663"/>
                </a:solidFill>
              </a:rPr>
              <a:t>Isolated Island Communities: </a:t>
            </a:r>
            <a:r>
              <a:rPr sz="819">
                <a:solidFill>
                  <a:srgbClr val="0F172A"/>
                </a:solidFill>
              </a:rPr>
              <a:t>Residents across Little Andaman, Nicobar, and rural panchayats.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3663"/>
                </a:solidFill>
                <a:latin typeface="Calibri"/>
              </a:defRPr>
            </a:pPr>
            <a:r>
              <a:t>INTENDED CLINICAL BENEFITS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08A6A6"/>
                </a:solidFill>
              </a:rPr>
              <a:t>Rapid Deterioration Awareness: </a:t>
            </a:r>
            <a:r>
              <a:rPr sz="819">
                <a:solidFill>
                  <a:srgbClr val="0F172A"/>
                </a:solidFill>
              </a:rPr>
              <a:t>Early recognition of abnormal vital trends before cardiac or respiratory arrest occurs.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08A6A6"/>
                </a:solidFill>
              </a:rPr>
              <a:t>Instant Fall Notification: </a:t>
            </a:r>
            <a:r>
              <a:rPr sz="819">
                <a:solidFill>
                  <a:srgbClr val="0F172A"/>
                </a:solidFill>
              </a:rPr>
              <a:t>Pose sentinel raises alarms within 3 seconds of sustained floor contact.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08A6A6"/>
                </a:solidFill>
              </a:rPr>
              <a:t>Structured Escalation Chain: </a:t>
            </a:r>
            <a:r>
              <a:rPr sz="819">
                <a:solidFill>
                  <a:srgbClr val="0F172A"/>
                </a:solidFill>
              </a:rPr>
              <a:t>Automated progression: Family Caregiver → Secondary Contact → 108/112.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08A6A6"/>
                </a:solidFill>
              </a:rPr>
              <a:t>Reduced Bedside Burden: </a:t>
            </a:r>
            <a:r>
              <a:rPr sz="819">
                <a:solidFill>
                  <a:srgbClr val="0F172A"/>
                </a:solidFill>
              </a:rPr>
              <a:t>One nurse oversees 20+ virtual ward beds via prioritized triage queues.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1345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6002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KEY ECOSYSTEM STAKEHOLDERS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0F172A"/>
                </a:solidFill>
              </a:rPr>
              <a:t>Patients &amp; Elderly Citizens: </a:t>
            </a:r>
            <a:r>
              <a:rPr sz="819">
                <a:solidFill>
                  <a:srgbClr val="475569"/>
                </a:solidFill>
              </a:rPr>
              <a:t>Autonomy, dignity, and confidence to live independently at home.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0F172A"/>
                </a:solidFill>
              </a:rPr>
              <a:t>Primary Healthcare Workers: </a:t>
            </a:r>
            <a:r>
              <a:rPr sz="819">
                <a:solidFill>
                  <a:srgbClr val="475569"/>
                </a:solidFill>
              </a:rPr>
              <a:t>ASHA and ANM workers equipped with standardized triage data.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0F172A"/>
                </a:solidFill>
              </a:rPr>
              <a:t>Government Hospitals: </a:t>
            </a:r>
            <a:r>
              <a:rPr sz="819">
                <a:solidFill>
                  <a:srgbClr val="475569"/>
                </a:solidFill>
              </a:rPr>
              <a:t>GB Pant Hospital (Port Blair) virtual bed expansion during surges.</a:t>
            </a:r>
          </a:p>
          <a:p>
            <a:pPr>
              <a:spcBef>
                <a:spcPts val="600"/>
              </a:spcBef>
            </a:pPr>
            <a:r>
              <a:rPr b="1" sz="880">
                <a:solidFill>
                  <a:srgbClr val="0F172A"/>
                </a:solidFill>
              </a:rPr>
              <a:t>Public Health Authorities: </a:t>
            </a:r>
            <a:r>
              <a:rPr sz="819">
                <a:solidFill>
                  <a:srgbClr val="475569"/>
                </a:solidFill>
              </a:rPr>
              <a:t>Real-time population health telemetry and climate/heatwave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728655" cy="5943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3663"/>
                </a:solidFill>
                <a:latin typeface="Calibri"/>
              </a:defRPr>
            </a:pPr>
            <a:r>
              <a:t>Connected Healthcare Flow: Patients &amp; Elderly ➔ Family Caregivers ➔ Nurses &amp; Hospital Wards ➔ Community ASHA Workers ➔ Emergency Services (108/112)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ArohaSetu — Hack for Social Cause 2027 (VBYLD) • Knowledge Partner: IIT Bombay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355080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103663"/>
                </a:solidFill>
                <a:latin typeface="Calibri"/>
              </a:defRPr>
            </a:pPr>
            <a: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A6A6"/>
                </a:solidFill>
                <a:latin typeface="Calibri"/>
              </a:defRPr>
            </a:pPr>
            <a:r>
              <a:t>FEASIBILITY AND RISK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3663"/>
                </a:solidFill>
                <a:latin typeface="Calibri"/>
              </a:defRPr>
            </a:pPr>
            <a:r>
              <a:t>Prototyped Feasibility &amp; Six Managed 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E11D48"/>
                </a:solidFill>
                <a:latin typeface="Calibri"/>
              </a:defRPr>
            </a:pPr>
            <a:r>
              <a:t>Reg ID: HSC|AN|00004</a:t>
            </a:r>
          </a:p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Team: ArohaSetu • A&amp;N Islands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08A6A6"/>
          </a:solidFill>
          <a:ln>
            <a:solidFill>
              <a:srgbClr val="08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3663"/>
                </a:solidFill>
                <a:latin typeface="Calibri"/>
              </a:defRPr>
            </a:pPr>
            <a:r>
              <a:t>01 Clinical Accuracy</a:t>
            </a:r>
          </a:p>
          <a:p>
            <a:pPr>
              <a:spcBef>
                <a:spcPts val="300"/>
              </a:spcBef>
              <a:defRPr sz="819">
                <a:solidFill>
                  <a:srgbClr val="E11D48"/>
                </a:solidFill>
                <a:latin typeface="Calibri"/>
              </a:defRPr>
            </a:pPr>
            <a:r>
              <a:t>Risk: Algorithmic misinterpretation of physiological instability.</a:t>
            </a:r>
          </a:p>
          <a:p>
            <a:pPr>
              <a:spcBef>
                <a:spcPts val="300"/>
              </a:spcBef>
              <a:defRPr sz="819">
                <a:solidFill>
                  <a:srgbClr val="0F172A"/>
                </a:solidFill>
                <a:latin typeface="Calibri"/>
              </a:defRPr>
            </a:pPr>
            <a:r>
              <a:t>Mitigation: Strictly adhere to standard Royal College of Physicians NEWS2; mandate human clinician-in-the-loop oversight.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63040"/>
            <a:ext cx="342900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554480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3663"/>
                </a:solidFill>
                <a:latin typeface="Calibri"/>
              </a:defRPr>
            </a:pPr>
            <a:r>
              <a:t>02 Island Connectivity</a:t>
            </a:r>
          </a:p>
          <a:p>
            <a:pPr>
              <a:spcBef>
                <a:spcPts val="300"/>
              </a:spcBef>
              <a:defRPr sz="819">
                <a:solidFill>
                  <a:srgbClr val="E11D48"/>
                </a:solidFill>
                <a:latin typeface="Calibri"/>
              </a:defRPr>
            </a:pPr>
            <a:r>
              <a:t>Risk: Intermittent internet connection in remote island geography.</a:t>
            </a:r>
          </a:p>
          <a:p>
            <a:pPr>
              <a:spcBef>
                <a:spcPts val="300"/>
              </a:spcBef>
              <a:defRPr sz="819">
                <a:solidFill>
                  <a:srgbClr val="0F172A"/>
                </a:solidFill>
                <a:latin typeface="Calibri"/>
              </a:defRPr>
            </a:pPr>
            <a:r>
              <a:t>Mitigation: Embedded offline-first engine on Kotlin Android client; local SQLite caching; clear sync status badges.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463040"/>
            <a:ext cx="342900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54480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3663"/>
                </a:solidFill>
                <a:latin typeface="Calibri"/>
              </a:defRPr>
            </a:pPr>
            <a:r>
              <a:t>03 False Fall Alarms</a:t>
            </a:r>
          </a:p>
          <a:p>
            <a:pPr>
              <a:spcBef>
                <a:spcPts val="300"/>
              </a:spcBef>
              <a:defRPr sz="819">
                <a:solidFill>
                  <a:srgbClr val="E11D48"/>
                </a:solidFill>
                <a:latin typeface="Calibri"/>
              </a:defRPr>
            </a:pPr>
            <a:r>
              <a:t>Risk: Alert fatigue caused by sitting, bending, or dropping devices.</a:t>
            </a:r>
          </a:p>
          <a:p>
            <a:pPr>
              <a:spcBef>
                <a:spcPts val="300"/>
              </a:spcBef>
              <a:defRPr sz="819">
                <a:solidFill>
                  <a:srgbClr val="0F172A"/>
                </a:solidFill>
                <a:latin typeface="Calibri"/>
              </a:defRPr>
            </a:pPr>
            <a:r>
              <a:t>Mitigation: Multi-frame temporal windows (&gt;3s floor immobility); 23/23 false-positive scenarios verified with 100% precision.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42900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3663"/>
                </a:solidFill>
                <a:latin typeface="Calibri"/>
              </a:defRPr>
            </a:pPr>
            <a:r>
              <a:t>04 Escalation Integrity</a:t>
            </a:r>
          </a:p>
          <a:p>
            <a:pPr>
              <a:spcBef>
                <a:spcPts val="300"/>
              </a:spcBef>
              <a:defRPr sz="819">
                <a:solidFill>
                  <a:srgbClr val="E11D48"/>
                </a:solidFill>
                <a:latin typeface="Calibri"/>
              </a:defRPr>
            </a:pPr>
            <a:r>
              <a:t>Risk: Automated emergency dispatches failing or sending false alarms.</a:t>
            </a:r>
          </a:p>
          <a:p>
            <a:pPr>
              <a:spcBef>
                <a:spcPts val="300"/>
              </a:spcBef>
              <a:defRPr sz="819">
                <a:solidFill>
                  <a:srgbClr val="0F172A"/>
                </a:solidFill>
                <a:latin typeface="Calibri"/>
              </a:defRPr>
            </a:pPr>
            <a:r>
              <a:t>Mitigation: Transparent simulation labeling in prototype; multi-tier ladder (Family → Backup → 108/112) with verification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3429000"/>
            <a:ext cx="342900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3520440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3663"/>
                </a:solidFill>
                <a:latin typeface="Calibri"/>
              </a:defRPr>
            </a:pPr>
            <a:r>
              <a:t>05 Patient Privacy</a:t>
            </a:r>
          </a:p>
          <a:p>
            <a:pPr>
              <a:spcBef>
                <a:spcPts val="300"/>
              </a:spcBef>
              <a:defRPr sz="819">
                <a:solidFill>
                  <a:srgbClr val="E11D48"/>
                </a:solidFill>
                <a:latin typeface="Calibri"/>
              </a:defRPr>
            </a:pPr>
            <a:r>
              <a:t>Risk: Domestic reluctance to install optical sensors in private bedrooms.</a:t>
            </a:r>
          </a:p>
          <a:p>
            <a:pPr>
              <a:spcBef>
                <a:spcPts val="300"/>
              </a:spcBef>
              <a:defRPr sz="819">
                <a:solidFill>
                  <a:srgbClr val="0F172A"/>
                </a:solidFill>
                <a:latin typeface="Calibri"/>
              </a:defRPr>
            </a:pPr>
            <a:r>
              <a:t>Mitigation: Strict on-device keypoint inference (no raw video stored or transmitted); DPDP Act compliant privacy architecture.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429000"/>
            <a:ext cx="342900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3520440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3663"/>
                </a:solidFill>
                <a:latin typeface="Calibri"/>
              </a:defRPr>
            </a:pPr>
            <a:r>
              <a:t>06 Regulatory Readiness</a:t>
            </a:r>
          </a:p>
          <a:p>
            <a:pPr>
              <a:spcBef>
                <a:spcPts val="300"/>
              </a:spcBef>
              <a:defRPr sz="819">
                <a:solidFill>
                  <a:srgbClr val="E11D48"/>
                </a:solidFill>
                <a:latin typeface="Calibri"/>
              </a:defRPr>
            </a:pPr>
            <a:r>
              <a:t>Risk: Premature deployment without medical software certification.</a:t>
            </a:r>
          </a:p>
          <a:p>
            <a:pPr>
              <a:spcBef>
                <a:spcPts val="300"/>
              </a:spcBef>
              <a:defRPr sz="819">
                <a:solidFill>
                  <a:srgbClr val="0F172A"/>
                </a:solidFill>
                <a:latin typeface="Calibri"/>
              </a:defRPr>
            </a:pPr>
            <a:r>
              <a:t>Mitigation: Positioned strictly as clinical decision-support and assistive care; roadmap planned for CDSCO/ethical governance.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685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5321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103663"/>
                </a:solidFill>
                <a:latin typeface="Calibri"/>
              </a:defRPr>
            </a:pPr>
            <a:r>
              <a:t>Feasibility Status: Web simulator, local Python YOLO pose sentinel, and offline-capable Android APK are fully functional for demonstration; physical Bluetooth sensor ingestion is verified through deterministic data feeds.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ArohaSetu — Hack for Social Cause 2027 (VBYLD) • Knowledge Partner: IIT Bombay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355080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103663"/>
                </a:solidFill>
                <a:latin typeface="Calibri"/>
              </a:defRPr>
            </a:pPr>
            <a: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A6A6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3663"/>
                </a:solidFill>
                <a:latin typeface="Calibri"/>
              </a:defRPr>
            </a:pPr>
            <a:r>
              <a:t>Team Composition &amp; Development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E11D48"/>
                </a:solidFill>
                <a:latin typeface="Calibri"/>
              </a:defRPr>
            </a:pPr>
            <a:r>
              <a:t>Reg ID: HSC|AN|00004</a:t>
            </a:r>
          </a:p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Team: ArohaSetu • A&amp;N Islands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08A6A6"/>
          </a:solidFill>
          <a:ln>
            <a:solidFill>
              <a:srgbClr val="08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A6A6"/>
                </a:solidFill>
                <a:latin typeface="Calibri"/>
              </a:defRPr>
            </a:pPr>
            <a:r>
              <a:t>TEAM STRUCTURE &amp; RESPONSIBILITIES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103663"/>
                </a:solidFill>
              </a:rPr>
              <a:t>Samrat Dasgupta — Team Leader
</a:t>
            </a:r>
            <a:r>
              <a:rPr sz="819">
                <a:solidFill>
                  <a:srgbClr val="0F172A"/>
                </a:solidFill>
              </a:rPr>
              <a:t>Teacher Trainee • Port Blair, Andaman &amp; Nicobar Islands
Responsibilities: Clinical idea, concept definition, two-layer architecture, regional ground-truth validation &amp; institutional coordination.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103663"/>
                </a:solidFill>
              </a:rPr>
              <a:t>Hriday Das — Main Developer / Coder
</a:t>
            </a:r>
            <a:r>
              <a:rPr sz="819">
                <a:solidFill>
                  <a:srgbClr val="0F172A"/>
                </a:solidFill>
              </a:rPr>
              <a:t>Software Engineering Student
Responsibilities: Full-stack implementation, Node.js/Express backend, React dashboards, local YOLO-Pose vision engine &amp; test automation.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103663"/>
                </a:solidFill>
              </a:rPr>
              <a:t>C. Mohd. Jasheem — Designer
</a:t>
            </a:r>
            <a:r>
              <a:rPr sz="819">
                <a:solidFill>
                  <a:srgbClr val="0F172A"/>
                </a:solidFill>
              </a:rPr>
              <a:t>UI/UX &amp; Product Design Student
Responsibilities: Human-centered design, multi-language layout design, presentation assets &amp; accessible caregiver interaction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3663"/>
                </a:solidFill>
                <a:latin typeface="Calibri"/>
              </a:defRPr>
            </a:pPr>
            <a:r>
              <a:t>JOURNEY, MOTIVATION &amp; LEARNINGS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8A6A6"/>
                </a:solidFill>
              </a:rPr>
              <a:t>Why We Built ArohaSetu:
</a:t>
            </a:r>
            <a:r>
              <a:rPr sz="850">
                <a:solidFill>
                  <a:srgbClr val="0F172A"/>
                </a:solidFill>
              </a:rPr>
              <a:t>Living across the Andaman &amp; Nicobar archipelago, medical facilities are separated by deep water and limited ferry routes. When an elder falls or deteriorates alone, delayed awareness is fatal. We built ArohaSetu to provide a watchful, personal digital nurse for every family and overburdened hospital bed.</a:t>
            </a:r>
          </a:p>
          <a:p>
            <a:pPr>
              <a:spcBef>
                <a:spcPts val="1200"/>
              </a:spcBef>
            </a:pPr>
            <a:r>
              <a:rPr b="1" sz="950">
                <a:solidFill>
                  <a:srgbClr val="E11D48"/>
                </a:solidFill>
              </a:rPr>
              <a:t>Key Engineering Hurdle:
</a:t>
            </a:r>
            <a:r>
              <a:rPr sz="850">
                <a:solidFill>
                  <a:srgbClr val="0F172A"/>
                </a:solidFill>
              </a:rPr>
              <a:t>Achieving dependable fall detection on low-cost hardware without streaming video to external servers. We engineered a local YOLO-Pose kinematic sentinel with temporal posture tracking (tilt angle &gt;50°, vertical velocity drop, &gt;3s floor immobility) that achieved 100% precision across 23 false-positive test scenarios.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5943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3663"/>
                </a:solidFill>
                <a:latin typeface="Calibri"/>
              </a:defRPr>
            </a:pPr>
            <a:r>
              <a:t>Official Portal Registration: Team Name: ArohaSetu • Team ID: HSC|AN|00004 • Union Territory: Andaman &amp; Nicobar Islands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ArohaSetu — Hack for Social Cause 2027 (VBYLD) • Knowledge Partner: IIT Bombay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355080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103663"/>
                </a:solidFill>
                <a:latin typeface="Calibri"/>
              </a:defRPr>
            </a:pPr>
            <a: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A6A6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3663"/>
                </a:solidFill>
                <a:latin typeface="Calibri"/>
              </a:defRPr>
            </a:pPr>
            <a:r>
              <a:t>Clinical Foundations &amp; Project Artefacts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E11D48"/>
                </a:solidFill>
                <a:latin typeface="Calibri"/>
              </a:defRPr>
            </a:pPr>
            <a:r>
              <a:t>Reg ID: HSC|AN|00004</a:t>
            </a:r>
          </a:p>
          <a:p>
            <a:pPr algn="r">
              <a:defRPr sz="950">
                <a:solidFill>
                  <a:srgbClr val="475569"/>
                </a:solidFill>
                <a:latin typeface="Calibri"/>
              </a:defRPr>
            </a:pPr>
            <a:r>
              <a:t>Team: ArohaSetu • A&amp;N Islands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08A6A6"/>
          </a:solidFill>
          <a:ln>
            <a:solidFill>
              <a:srgbClr val="08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A6A6"/>
                </a:solidFill>
                <a:latin typeface="Calibri"/>
              </a:defRPr>
            </a:pPr>
            <a:r>
              <a:t>CLINICAL &amp; COMPETITION STANDARDS</a:t>
            </a:r>
          </a:p>
          <a:p>
            <a:pPr>
              <a:spcBef>
                <a:spcPts val="800"/>
              </a:spcBef>
            </a:pPr>
            <a:r>
              <a:rPr b="1" sz="900">
                <a:solidFill>
                  <a:srgbClr val="103663"/>
                </a:solidFill>
              </a:rPr>
              <a:t>1. Clinical Risk Standard (NEWS2):
</a:t>
            </a:r>
            <a:r>
              <a:rPr sz="819">
                <a:solidFill>
                  <a:srgbClr val="0F172A"/>
                </a:solidFill>
              </a:rPr>
              <a:t>Royal College of Physicians. National Early Warning Score (NEWS) 2: Standardising the assessment of acute-illness severity in the NHS. London: RCP, 2017.
(rcp.ac.uk/resources/national-early-warning-score-news-2)</a:t>
            </a:r>
          </a:p>
          <a:p>
            <a:pPr>
              <a:spcBef>
                <a:spcPts val="800"/>
              </a:spcBef>
            </a:pPr>
            <a:r>
              <a:rPr b="1" sz="900">
                <a:solidFill>
                  <a:srgbClr val="103663"/>
                </a:solidFill>
              </a:rPr>
              <a:t>2. Competition Framework:
</a:t>
            </a:r>
            <a:r>
              <a:rPr sz="819">
                <a:solidFill>
                  <a:srgbClr val="0F172A"/>
                </a:solidFill>
              </a:rPr>
              <a:t>Hack for Social Cause 2027 (Viksit Bharat Young Leaders Dialogue), Knowledge Partner IIT Bombay, MoYAS, Govt. of India. Template v7.0 compliance.</a:t>
            </a:r>
          </a:p>
          <a:p>
            <a:pPr>
              <a:spcBef>
                <a:spcPts val="800"/>
              </a:spcBef>
            </a:pPr>
            <a:r>
              <a:rPr b="1" sz="900">
                <a:solidFill>
                  <a:srgbClr val="103663"/>
                </a:solidFill>
              </a:rPr>
              <a:t>3. Digital Personal Data Protection (DPDP Act):
</a:t>
            </a:r>
            <a:r>
              <a:rPr sz="819">
                <a:solidFill>
                  <a:srgbClr val="0F172A"/>
                </a:solidFill>
              </a:rPr>
              <a:t>Zero raw video transmission; edge pose estimation with ephemeral keypoints aligns with Indian privacy regulations.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3663"/>
                </a:solidFill>
                <a:latin typeface="Calibri"/>
              </a:defRPr>
            </a:pPr>
            <a:r>
              <a:t>CODEBASE &amp; EVIDENCE INTEGRITY</a:t>
            </a:r>
          </a:p>
          <a:p>
            <a:pPr>
              <a:spcBef>
                <a:spcPts val="800"/>
              </a:spcBef>
            </a:pPr>
            <a:r>
              <a:rPr b="1" sz="900">
                <a:solidFill>
                  <a:srgbClr val="08A6A6"/>
                </a:solidFill>
              </a:rPr>
              <a:t>Official Source Code Repository:
</a:t>
            </a:r>
            <a:r>
              <a:rPr sz="819">
                <a:solidFill>
                  <a:srgbClr val="0F172A"/>
                </a:solidFill>
              </a:rPr>
              <a:t>https://github.com/EternalFlames131/Arohasetu
(Licensed under MIT, full Git commit log, public)</a:t>
            </a:r>
          </a:p>
          <a:p>
            <a:pPr>
              <a:spcBef>
                <a:spcPts val="800"/>
              </a:spcBef>
            </a:pPr>
            <a:r>
              <a:rPr b="1" sz="900">
                <a:solidFill>
                  <a:srgbClr val="08A6A6"/>
                </a:solidFill>
              </a:rPr>
              <a:t>Live Web Application &amp; Simulator:
</a:t>
            </a:r>
            <a:r>
              <a:rPr sz="819">
                <a:solidFill>
                  <a:srgbClr val="0F172A"/>
                </a:solidFill>
              </a:rPr>
              <a:t>https://arohasetu.vercel.app
(Production build verified, responsive PWA for families &amp; wards)</a:t>
            </a:r>
          </a:p>
          <a:p>
            <a:pPr>
              <a:spcBef>
                <a:spcPts val="800"/>
              </a:spcBef>
            </a:pPr>
            <a:r>
              <a:rPr b="1" sz="900">
                <a:solidFill>
                  <a:srgbClr val="E11D48"/>
                </a:solidFill>
              </a:rPr>
              <a:t>Official AI Disclosure Statement:
</a:t>
            </a:r>
            <a:r>
              <a:rPr sz="819">
                <a:solidFill>
                  <a:srgbClr val="0F172A"/>
                </a:solidFill>
              </a:rPr>
              <a:t>AI was used strictly to do light bug checks and light coding only; other than that, everything was self-made and created entirely by the team members.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5943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3663"/>
                </a:solidFill>
                <a:latin typeface="Calibri"/>
              </a:defRPr>
            </a:pPr>
            <a:r>
              <a:t>ArohaSetu Submission • Healthcare, Wellbeing and Elderly Care • Andaman &amp; Nicobar Islands • Team ID: HSC|AN|00004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ArohaSetu — Hack for Social Cause 2027 (VBYLD) • Knowledge Partner: IIT Bombay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355080"/>
            <a:ext cx="27733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103663"/>
                </a:solidFill>
                <a:latin typeface="Calibri"/>
              </a:defRPr>
            </a:pPr>
            <a: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